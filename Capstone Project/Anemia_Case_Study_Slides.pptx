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3" d="100"/>
          <a:sy n="93" d="100"/>
        </p:scale>
        <p:origin x="78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081609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64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62648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-1280160"/>
            <a:ext cx="4572000" cy="4572000"/>
          </a:xfrm>
          <a:prstGeom prst="ellipse">
            <a:avLst/>
          </a:prstGeom>
          <a:solidFill>
            <a:srgbClr val="1F3864">
              <a:alpha val="6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463040" y="4754880"/>
            <a:ext cx="3840480" cy="3840480"/>
          </a:xfrm>
          <a:prstGeom prst="ellipse">
            <a:avLst/>
          </a:prstGeom>
          <a:solidFill>
            <a:srgbClr val="2E8B8B">
              <a:alpha val="25000"/>
            </a:srgb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21488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C98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CHILDREN'S ANEMIA CASE STUDY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560320"/>
            <a:ext cx="10058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Wealth, Education, and Childhood Anemia in Nigeria</a:t>
            </a:r>
            <a:endParaRPr lang="en-US" sz="38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79476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F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Independent Analysis of the 2018 Nigeria Demographic and Health Survey (NDHS)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612648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 err="1">
                <a:solidFill>
                  <a:srgbClr val="9F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Saitu</a:t>
            </a:r>
            <a:r>
              <a:rPr lang="en-US" sz="1200" dirty="0">
                <a:solidFill>
                  <a:srgbClr val="9F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Yohanna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98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SITUATION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3152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Child anemia is widespread in Nigeria — but the drivers aren't equal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749040" cy="4114800"/>
          </a:xfrm>
          <a:prstGeom prst="roundRect">
            <a:avLst>
              <a:gd name="adj" fmla="val 2927"/>
            </a:avLst>
          </a:prstGeom>
          <a:solidFill>
            <a:srgbClr val="1F3864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286000"/>
            <a:ext cx="3749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68.8%</a:t>
            </a:r>
            <a:endParaRPr lang="en-US" sz="60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3566160"/>
            <a:ext cx="30175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F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Nigerian children tested (ages 0–59 months) were anemic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53949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9F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2018 NDHS, tested subsample (n = 10,182)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709160" y="1993392"/>
            <a:ext cx="146304" cy="146304"/>
          </a:xfrm>
          <a:prstGeom prst="ellipse">
            <a:avLst/>
          </a:prstGeom>
          <a:solidFill>
            <a:srgbClr val="2E8B8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074920" y="1874520"/>
            <a:ext cx="64008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2018 NDHS surveyed 30,000+ households, recording each child's hemoglobin alongside household wealth, mother's education, residence, and more.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709160" y="3319272"/>
            <a:ext cx="146304" cy="146304"/>
          </a:xfrm>
          <a:prstGeom prst="ellipse">
            <a:avLst/>
          </a:prstGeom>
          <a:solidFill>
            <a:srgbClr val="2E8B8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074920" y="3200400"/>
            <a:ext cx="64008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investigation has yet asked which of these factors matter most — or whether they overlap.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709160" y="4645152"/>
            <a:ext cx="146304" cy="146304"/>
          </a:xfrm>
          <a:prstGeom prst="ellipse">
            <a:avLst/>
          </a:prstGeom>
          <a:solidFill>
            <a:srgbClr val="C98A2C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074920" y="4526280"/>
            <a:ext cx="64008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Wealth and maternal education usually move together, so it's easy to assume one just reflects the other.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98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QUESTION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640080" y="1051560"/>
            <a:ext cx="10881360" cy="283464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blurRad="101600" dist="381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1097280" y="1417320"/>
            <a:ext cx="100584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26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Does a mother's education protect her child against anemia </a:t>
            </a:r>
            <a:r>
              <a:rPr lang="en-US" sz="2600" b="1" dirty="0">
                <a:solidFill>
                  <a:srgbClr val="C98A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even after accounting for household wealth</a:t>
            </a:r>
            <a:r>
              <a:rPr lang="en-US" sz="26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— or is it simply a proxy for being wealthier?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42519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E8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457200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education's effect is just wealth in disguise, income-focused programmes are enough. If education has its own effect, health-literacy and girls'/women's-education investment deserve a seat at the table too — often at lower cost and faster reach than income growth.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1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Anemia falls steadily as household wealth rises</a:t>
            </a:r>
            <a:endParaRPr lang="en-US" sz="2300" dirty="0"/>
          </a:p>
        </p:txBody>
      </p:sp>
      <p:pic>
        <p:nvPicPr>
          <p:cNvPr id="4" name="Image 0" descr="chart1_wealt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417320"/>
            <a:ext cx="6949440" cy="389534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635240" y="1463040"/>
            <a:ext cx="3931920" cy="3931920"/>
          </a:xfrm>
          <a:prstGeom prst="roundRect">
            <a:avLst>
              <a:gd name="adj" fmla="val 2326"/>
            </a:avLst>
          </a:prstGeom>
          <a:solidFill>
            <a:srgbClr val="EDF1F5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955280" y="1691640"/>
            <a:ext cx="32918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 → 54%
</a:t>
            </a:r>
            <a:r>
              <a:rPr lang="en-US" sz="145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Anemia drops 26 points from the poorest to the richest households.
</a:t>
            </a:r>
            <a:r>
              <a:rPr lang="en-US" sz="145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clear, steady gradient — but not the whole story.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E8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2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Anemia falls as mother's education rises</a:t>
            </a:r>
            <a:endParaRPr lang="en-US" sz="2300" dirty="0"/>
          </a:p>
        </p:txBody>
      </p:sp>
      <p:pic>
        <p:nvPicPr>
          <p:cNvPr id="4" name="Image 0" descr="chart2_educ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417320"/>
            <a:ext cx="6949440" cy="389534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635240" y="1463040"/>
            <a:ext cx="3931920" cy="3931920"/>
          </a:xfrm>
          <a:prstGeom prst="roundRect">
            <a:avLst>
              <a:gd name="adj" fmla="val 2326"/>
            </a:avLst>
          </a:prstGeom>
          <a:solidFill>
            <a:srgbClr val="EAF3F3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955280" y="1691640"/>
            <a:ext cx="32918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2600" b="1" dirty="0">
                <a:solidFill>
                  <a:srgbClr val="2E8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76% → 49%
</a:t>
            </a:r>
            <a:r>
              <a:rPr lang="en-US" sz="145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near-identical 27-point gap appears across mother's education levels.
</a:t>
            </a:r>
            <a:r>
              <a:rPr lang="en-US" sz="145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Wealth and education move together — so which one is actually doing the work?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98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3 — THE KEY RESULT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Higher education is protective at every wealth level</a:t>
            </a:r>
            <a:endParaRPr lang="en-US" sz="2300" dirty="0"/>
          </a:p>
        </p:txBody>
      </p:sp>
      <p:pic>
        <p:nvPicPr>
          <p:cNvPr id="4" name="Image 0" descr="chart3_interac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417320"/>
            <a:ext cx="7589520" cy="373989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229600" y="1463040"/>
            <a:ext cx="3383280" cy="4023360"/>
          </a:xfrm>
          <a:prstGeom prst="roundRect">
            <a:avLst>
              <a:gd name="adj" fmla="val 2703"/>
            </a:avLst>
          </a:prstGeom>
          <a:solidFill>
            <a:srgbClr val="FBF1E1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8549640" y="1691640"/>
            <a:ext cx="274320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2600" b="1" dirty="0">
                <a:solidFill>
                  <a:srgbClr val="C98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42–48%
</a:t>
            </a:r>
            <a:r>
              <a:rPr lang="en-US" sz="145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62–80% for less-educated mothers — in the SAME wealth band.
</a:t>
            </a:r>
            <a:r>
              <a:rPr lang="en-US" sz="145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effect of “Higher” education holds even among the poorest households.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6264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-1645920"/>
            <a:ext cx="4572000" cy="4572000"/>
          </a:xfrm>
          <a:prstGeom prst="ellipse">
            <a:avLst/>
          </a:prstGeom>
          <a:solidFill>
            <a:srgbClr val="1F3864">
              <a:alpha val="60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5486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98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TAKEAWAY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914400"/>
            <a:ext cx="10241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Wealth and education are two separate levers — not one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965960"/>
            <a:ext cx="10332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E4E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Within every wealth band, children of mothers with </a:t>
            </a:r>
            <a:r>
              <a:rPr lang="en-US" sz="1600" b="1" dirty="0">
                <a:solidFill>
                  <a:srgbClr val="C98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education</a:t>
            </a:r>
            <a:r>
              <a:rPr lang="en-US" sz="1600" dirty="0">
                <a:solidFill>
                  <a:srgbClr val="E4E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have a markedly lower anemia rate than children of less-educated mothers at the same income level (42–48% vs. 62–80%). Both patterns are statistically significant (p &lt; 0.001).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22960" y="3566160"/>
            <a:ext cx="10332720" cy="0"/>
          </a:xfrm>
          <a:prstGeom prst="line">
            <a:avLst/>
          </a:prstGeom>
          <a:noFill/>
          <a:ln w="12700">
            <a:solidFill>
              <a:srgbClr val="3C568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3840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E8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4160520"/>
            <a:ext cx="98755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Anti-anemia strategy should not rely on income growth alone. Pairing it with maternal health-literacy and girls'/women's-education investment targets a driver that wealth improvements alone will not close.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61264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Caveat: two wealth × education cells have small samples (n = 19 and n = 73); the direction of the pattern is consistent across all bands regardless.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460</Words>
  <Application>Microsoft Office PowerPoint</Application>
  <PresentationFormat>Widescreen</PresentationFormat>
  <Paragraphs>38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Prodigy Dan</cp:lastModifiedBy>
  <cp:revision>2</cp:revision>
  <dcterms:created xsi:type="dcterms:W3CDTF">2026-09-19T23:03:10Z</dcterms:created>
  <dcterms:modified xsi:type="dcterms:W3CDTF">2026-09-19T23:09:37Z</dcterms:modified>
</cp:coreProperties>
</file>